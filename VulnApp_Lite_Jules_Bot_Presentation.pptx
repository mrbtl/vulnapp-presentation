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7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E5FF"/>
                </a:solidFill>
                <a:latin typeface="Calibri"/>
              </a:rPr>
              <a:t>VulnApp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+ Jules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4C8"/>
                </a:solidFill>
                <a:latin typeface="Calibri"/>
              </a:rPr>
              <a:t>Zarządzanie podatnościami
i automatyzacja przez Telegram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37560"/>
            <a:ext cx="10972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2011680"/>
            <a:ext cx="1371600" cy="20116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834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FF"/>
                </a:solidFill>
                <a:latin typeface="Calibri"/>
              </a:rPr>
              <a:t>CVE
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1371600" cy="20116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Calibri"/>
              </a:rPr>
              <a:t>Mobile
iOS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011680"/>
            <a:ext cx="1371600" cy="20116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834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F00"/>
                </a:solidFill>
                <a:latin typeface="Calibri"/>
              </a:rPr>
              <a:t>Telegram
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2011680"/>
            <a:ext cx="1371600" cy="20116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834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45"/>
                </a:solidFill>
                <a:latin typeface="Calibri"/>
              </a:rPr>
              <a:t>Security
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rafserver · Flask · SQLite · ZeroTier · Nginx · systemd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E5FF"/>
                </a:solidFill>
                <a:latin typeface="Calibr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Architektura Systemu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  <a:latin typeface="Calibri"/>
              </a:rPr>
              <a:t>Jak działają wszystkie komponenty razem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FF"/>
                </a:solidFill>
                <a:latin typeface="Calibri"/>
              </a:rPr>
              <a:t>KLIENCI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🌐 Przeglądarka
Web (LAN)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830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📱 VulnApp
iOS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🤖 Telegram
Jules 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👤 Użytkownik
Admin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2560320"/>
            <a:ext cx="0" cy="5029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2560320"/>
            <a:ext cx="0" cy="5029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560320"/>
            <a:ext cx="0" cy="50292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0" y="2560320"/>
            <a:ext cx="0" cy="502920"/>
          </a:xfrm>
          <a:prstGeom prst="line">
            <a:avLst/>
          </a:prstGeom>
          <a:ln w="1905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2926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676"/>
                </a:solidFill>
                <a:latin typeface="Calibri"/>
              </a:rPr>
              <a:t>SIEĆ / PROXY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004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004D33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E676"/>
                </a:solidFill>
                <a:latin typeface="Calibri"/>
              </a:rPr>
              <a:t>🔀  Nginx Reverse Proxy  (port 80)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200400"/>
            <a:ext cx="4572000" cy="685800"/>
          </a:xfrm>
          <a:prstGeom prst="roundRect">
            <a:avLst>
              <a:gd name="adj" fmla="val 5000"/>
            </a:avLst>
          </a:prstGeom>
          <a:solidFill>
            <a:srgbClr val="3322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BF00"/>
                </a:solidFill>
                <a:latin typeface="Calibri"/>
              </a:rPr>
              <a:t>🌐  ZeroTier VPN  (remote access)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3886200"/>
            <a:ext cx="0" cy="50292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3886200"/>
            <a:ext cx="0" cy="502920"/>
          </a:xfrm>
          <a:prstGeom prst="line">
            <a:avLst/>
          </a:prstGeom>
          <a:ln w="1905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943600" y="3543300"/>
            <a:ext cx="640080" cy="0"/>
          </a:xfrm>
          <a:prstGeom prst="line">
            <a:avLst/>
          </a:prstGeom>
          <a:ln w="1524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4251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545"/>
                </a:solidFill>
                <a:latin typeface="Calibri"/>
              </a:rPr>
              <a:t>BACKEND  (rafserver)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2103120" cy="8229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4545"/>
                </a:solidFill>
                <a:latin typeface="Calibri"/>
              </a:rPr>
              <a:t>🐍 Flask
+ Gunicorn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526280"/>
            <a:ext cx="2103120" cy="8229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BF00"/>
                </a:solidFill>
                <a:latin typeface="Calibri"/>
              </a:rPr>
              <a:t>📊 SQLite
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526280"/>
            <a:ext cx="2103120" cy="8229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A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A0B4C8"/>
                </a:solidFill>
                <a:latin typeface="Calibri"/>
              </a:rPr>
              <a:t>📁 CSV
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526280"/>
            <a:ext cx="2103120" cy="8229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📜 systemd
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4526280"/>
            <a:ext cx="2103120" cy="8229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📋 Jules
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● LAN  ● ZeroTier  ● Telegram API  ● GitHub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263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E5FF"/>
                </a:solidFill>
                <a:latin typeface="Calibr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Logika Bota Jules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  <a:latin typeface="Calibri"/>
              </a:rPr>
              <a:t>Diagram przepływu: od komendy do akcji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BF00"/>
                </a:solidFill>
                <a:latin typeface="Calibri"/>
              </a:rPr>
              <a:t>jules-listener.service
(systemd long-poll)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9144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2860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BF00"/>
                </a:solidFill>
                <a:latin typeface="Calibri"/>
              </a:rPr>
              <a:t>Wiadomość
od użytkownika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004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BF00"/>
                </a:solidFill>
                <a:latin typeface="Calibri"/>
              </a:rPr>
              <a:t>jules_actions.sh
przetwarza tekst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1148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5FF"/>
                </a:solidFill>
                <a:latin typeface="Calibri"/>
              </a:rPr>
              <a:t>Wywołanie
Claude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0292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Odpowiedź →
Telegram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57150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.0" y="2057400"/>
            <a:ext cx="0.0" cy="228600"/>
          </a:xfrm>
          <a:prstGeom prst="line">
            <a:avLst/>
          </a:prstGeom>
          <a:ln w="2540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.0" y="2971800"/>
            <a:ext cx="0.0" cy="228600"/>
          </a:xfrm>
          <a:prstGeom prst="line">
            <a:avLst/>
          </a:prstGeom>
          <a:ln w="2540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03120.0" y="3886200"/>
            <a:ext cx="0.0" cy="228600"/>
          </a:xfrm>
          <a:prstGeom prst="line">
            <a:avLst/>
          </a:prstGeom>
          <a:ln w="2540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3120.0" y="4800600"/>
            <a:ext cx="0.0" cy="228600"/>
          </a:xfrm>
          <a:prstGeom prst="line">
            <a:avLst/>
          </a:prstGeom>
          <a:ln w="2540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60520" y="13716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jules_review.sh
(cron co 5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9144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CRON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2860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5FF"/>
                </a:solidFill>
                <a:latin typeface="Calibri"/>
              </a:rPr>
              <a:t>gh pr list
— pobierz nowe PR-y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2004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5FF"/>
                </a:solidFill>
                <a:latin typeface="Calibri"/>
              </a:rPr>
              <a:t>Claude analizuje
diff kodu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1148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5FF"/>
                </a:solidFill>
                <a:latin typeface="Calibri"/>
              </a:rPr>
              <a:t>gh pr review
— komentarz na GitHub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50292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Powiadomienie
Telegram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.0" y="2057400"/>
            <a:ext cx="0.0" cy="2286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.0" y="2971800"/>
            <a:ext cx="0.0" cy="2286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52160.0" y="3886200"/>
            <a:ext cx="0.0" cy="2286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52160.0" y="4800600"/>
            <a:ext cx="0.0" cy="2286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09560" y="13716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4545"/>
                </a:solidFill>
                <a:latin typeface="Calibri"/>
              </a:rPr>
              <a:t>Komenda /deploy
lub /status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9144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22860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4545"/>
                </a:solidFill>
                <a:latin typeface="Calibri"/>
              </a:rPr>
              <a:t>Parsowanie
komendy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2004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4545"/>
                </a:solidFill>
                <a:latin typeface="Calibri"/>
              </a:rPr>
              <a:t>gh run
/ gh issue / gh pr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1148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4545"/>
                </a:solidFill>
                <a:latin typeface="Calibri"/>
              </a:rPr>
              <a:t>Sukces / Błąd
zapis logu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50292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Raport
do Telegrama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0.0" y="2057400"/>
            <a:ext cx="0.0" cy="22860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01200.0" y="2971800"/>
            <a:ext cx="0.0" cy="22860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01200.0" y="3886200"/>
            <a:ext cx="0.0" cy="22860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01200.0" y="4800600"/>
            <a:ext cx="0.0" cy="228600"/>
          </a:xfrm>
          <a:prstGeom prst="line">
            <a:avLst/>
          </a:prstGeom>
          <a:ln w="25400">
            <a:solidFill>
              <a:srgbClr val="FF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148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F00"/>
                </a:solidFill>
                <a:latin typeface="Calibri"/>
              </a:rPr>
              <a:t>⚡ LIVE LISTENER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alibri"/>
              </a:rPr>
              <a:t>🔄 PR REVIEW (CRON)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545"/>
                </a:solidFill>
                <a:latin typeface="Calibri"/>
              </a:rPr>
              <a:t>🔧 GITHUB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E5FF"/>
                </a:solidFill>
                <a:latin typeface="Calibr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Mapa Interakcji Użytkownika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  <a:latin typeface="Calibri"/>
              </a:rPr>
              <a:t>Punkty styku: Admin · Developer · End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11274552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BF00"/>
                </a:solidFill>
                <a:latin typeface="Calibri"/>
              </a:rPr>
              <a:t>Import
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Defender
exportuje raport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103120"/>
            <a:ext cx="0" cy="1261872"/>
          </a:xfrm>
          <a:prstGeom prst="line">
            <a:avLst/>
          </a:prstGeom>
          <a:ln w="1905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02336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E5FF"/>
                </a:solidFill>
                <a:latin typeface="Calibri"/>
              </a:rPr>
              <a:t>Web
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709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Przegląd CVE,
filtrowanie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611880"/>
            <a:ext cx="0" cy="41148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46304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E676"/>
                </a:solidFill>
                <a:latin typeface="Calibri"/>
              </a:rPr>
              <a:t>Aktualizacja
Statusu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action_taken
ticket_number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2103120"/>
            <a:ext cx="0" cy="126187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40880" y="3154680"/>
            <a:ext cx="457200" cy="457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02336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E5FF"/>
                </a:solidFill>
                <a:latin typeface="Calibri"/>
              </a:rPr>
              <a:t>Mobile
Podgląd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09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iOS: czyta /api/cves
przez ZeroTier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69480" y="3611880"/>
            <a:ext cx="0" cy="411480"/>
          </a:xfrm>
          <a:prstGeom prst="line">
            <a:avLst/>
          </a:prstGeom>
          <a:ln w="190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144000" y="3154680"/>
            <a:ext cx="457200" cy="457200"/>
          </a:xfrm>
          <a:prstGeom prst="ellipse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146304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BF00"/>
                </a:solidFill>
                <a:latin typeface="Calibri"/>
              </a:rPr>
              <a:t>Bot
Jules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Telegram: pytania,
raporty, PR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2103120"/>
            <a:ext cx="0" cy="1261872"/>
          </a:xfrm>
          <a:prstGeom prst="line">
            <a:avLst/>
          </a:prstGeom>
          <a:ln w="19050">
            <a:solidFill>
              <a:srgbClr val="FFB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1064240" y="3154680"/>
            <a:ext cx="457200" cy="457200"/>
          </a:xfrm>
          <a:prstGeom prst="ellipse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9920" y="402336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A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0B4C8"/>
                </a:solidFill>
                <a:latin typeface="Calibri"/>
              </a:rPr>
              <a:t>Raport
Zamknięcia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4709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  <a:latin typeface="Calibri"/>
              </a:rPr>
              <a:t>Export / statystyki
do zarządu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292840" y="3611880"/>
            <a:ext cx="0" cy="411480"/>
          </a:xfrm>
          <a:prstGeom prst="line">
            <a:avLst/>
          </a:prstGeom>
          <a:ln w="19050">
            <a:solidFill>
              <a:srgbClr val="A0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0" y="141732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BF00"/>
                </a:solidFill>
                <a:latin typeface="Calibri"/>
              </a:rPr>
              <a:t>👔 Admin / Security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384048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E5FF"/>
                </a:solidFill>
                <a:latin typeface="Calibri"/>
              </a:rPr>
              <a:t>💻 Developer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E5FF"/>
                </a:solidFill>
                <a:latin typeface="Calibr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Statystyki i Wydajność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  <a:latin typeface="Calibri"/>
              </a:rPr>
              <a:t>Dashboard — propozycja metryk operacyjnych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FF"/>
                </a:solidFill>
                <a:latin typeface="Calibri"/>
              </a:rP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  <a:latin typeface="Calibri"/>
              </a:rPr>
              <a:t>CVE
Śledzonych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5087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676"/>
                </a:solidFill>
                <a:latin typeface="Calibri"/>
              </a:rPr>
              <a:t>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  <a:latin typeface="Calibri"/>
              </a:rPr>
              <a:t>Zamkniętych
w terminie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5087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BF00"/>
                </a:solidFill>
                <a:latin typeface="Calibri"/>
              </a:rPr>
              <a:t>3.2h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  <a:latin typeface="Calibri"/>
              </a:rPr>
              <a:t>Avg. czas
reakcji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5087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545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  <a:latin typeface="Calibri"/>
              </a:rPr>
              <a:t>PR
Zrecenzowanych/tyg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5087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A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0B4C8"/>
                </a:solidFill>
                <a:latin typeface="Calibri"/>
              </a:rPr>
              <a:t>↑5%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  <a:latin typeface="Calibri"/>
              </a:rPr>
              <a:t>Poprawa MoM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71800"/>
            <a:ext cx="5303520" cy="26517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CVE wg. Severity (Mock Bar Chart)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26180"/>
            <a:ext cx="822960" cy="11658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  <a:latin typeface="Calibr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518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545"/>
                </a:solidFill>
                <a:latin typeface="Calibri"/>
              </a:rPr>
              <a:t>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069080"/>
            <a:ext cx="822960" cy="8229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  <a:latin typeface="Calibri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94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F00"/>
                </a:solidFill>
                <a:latin typeface="Calibri"/>
              </a:rPr>
              <a:t>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343400"/>
            <a:ext cx="822960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  <a:latin typeface="Calibri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FF"/>
                </a:solidFill>
                <a:latin typeface="Calibr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617720"/>
            <a:ext cx="822960" cy="274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  <a:latin typeface="Calibr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676"/>
                </a:solidFill>
                <a:latin typeface="Calibri"/>
              </a:rPr>
              <a:t>20%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971800"/>
            <a:ext cx="5760720" cy="265176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Status Ticketów (Mock Donut)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352044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16386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676"/>
                </a:solidFill>
                <a:latin typeface="Calibri"/>
              </a:rPr>
              <a:t>✅ Zamknięte  62%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352044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16386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E5FF"/>
                </a:solidFill>
                <a:latin typeface="Calibri"/>
              </a:rPr>
              <a:t>🔄 W trakcie  24%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34340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16386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BF00"/>
                </a:solidFill>
                <a:latin typeface="Calibri"/>
              </a:rPr>
              <a:t>⚠️ Zaległe  10%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434340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163860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4545"/>
                </a:solidFill>
                <a:latin typeface="Calibri"/>
              </a:rPr>
              <a:t>🔴 Krytyczne  4%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4709160"/>
            <a:ext cx="5760720" cy="868680"/>
          </a:xfrm>
          <a:prstGeom prst="roundRect">
            <a:avLst>
              <a:gd name="adj" fmla="val 5000"/>
            </a:avLst>
          </a:prstGeom>
          <a:solidFill>
            <a:srgbClr val="112D4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BF00"/>
                </a:solidFill>
                <a:latin typeface="Calibri"/>
              </a:rPr>
              <a:t>🤖  Jules: 47 komend tygodniowo  |  12 PR review  |  ∅ 8s 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E5FF"/>
                </a:solidFill>
                <a:latin typeface="Calibri"/>
              </a:rPr>
              <a:t>05 /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B4C8"/>
                </a:solidFill>
                <a:latin typeface="Calibri"/>
              </a:rPr>
              <a:t>* Dane poglądowe — docelowo integracja z logami systemd i GitHub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