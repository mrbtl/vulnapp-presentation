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07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457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0E5FF"/>
                </a:solidFill>
                <a:latin typeface="Calibri"/>
              </a:rPr>
              <a:t>VulnApp 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5176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FFFFFF"/>
                </a:solidFill>
                <a:latin typeface="Calibri"/>
              </a:rPr>
              <a:t>+ Jules Bot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337560"/>
            <a:ext cx="1097280" cy="457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4290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0B4C8"/>
                </a:solidFill>
                <a:latin typeface="Calibri"/>
              </a:rPr>
              <a:t>Zarządzanie podatnościami
i automatyzacja przez Telegram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2011680"/>
            <a:ext cx="1371600" cy="2011680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224028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Calibri"/>
              </a:rPr>
              <a:t>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283464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E5FF"/>
                </a:solidFill>
                <a:latin typeface="Calibri"/>
              </a:rPr>
              <a:t>CVE
Tracking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2011680"/>
            <a:ext cx="1371600" cy="2011680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24028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Calibri"/>
              </a:rPr>
              <a:t>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83464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E676"/>
                </a:solidFill>
                <a:latin typeface="Calibri"/>
              </a:rPr>
              <a:t>Mobile
iOS 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0" y="2011680"/>
            <a:ext cx="1371600" cy="2011680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24028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Calibri"/>
              </a:rPr>
              <a:t>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283464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BF00"/>
                </a:solidFill>
                <a:latin typeface="Calibri"/>
              </a:rPr>
              <a:t>Telegram
Bot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24160" y="2011680"/>
            <a:ext cx="1371600" cy="2011680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FF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224028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Calibri"/>
              </a:rPr>
              <a:t>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83464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4545"/>
                </a:solidFill>
                <a:latin typeface="Calibri"/>
              </a:rPr>
              <a:t>Security
First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30936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0B4C8"/>
                </a:solidFill>
                <a:latin typeface="Calibri"/>
              </a:rPr>
              <a:t>rafserver · Flask · SQLite · ZeroTier · Nginx · systemd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30936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00E5FF"/>
                </a:solidFill>
                <a:latin typeface="Calibri"/>
              </a:rPr>
              <a:t>01 / 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1274552" cy="457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Architektura Systemu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0B4C8"/>
                </a:solidFill>
                <a:latin typeface="Calibri"/>
              </a:rPr>
              <a:t>Jak działają wszystkie komponenty razem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E5FF"/>
                </a:solidFill>
                <a:latin typeface="Calibri"/>
              </a:rPr>
              <a:t>KLIENCI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37360"/>
            <a:ext cx="2468880" cy="777240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🌐  Przeglądarka Web
(LAN / port 80)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1737360"/>
            <a:ext cx="2468880" cy="777240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📱  VulnApp Mobile
(iOS / ZeroTier)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737360"/>
            <a:ext cx="2468880" cy="777240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🤖  Jules Bot
(Telegram API)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1737360"/>
            <a:ext cx="2468880" cy="777240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👤  Admin
(SSH / terminal)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73352" y="2514600"/>
            <a:ext cx="36576" cy="34747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27632" y="2843784"/>
            <a:ext cx="128016" cy="128016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6552" y="2514600"/>
            <a:ext cx="36576" cy="34747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70832" y="2843784"/>
            <a:ext cx="128016" cy="128016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9752" y="2514600"/>
            <a:ext cx="36576" cy="34747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114032" y="2843784"/>
            <a:ext cx="128016" cy="128016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902952" y="2514600"/>
            <a:ext cx="36576" cy="34747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57232" y="2843784"/>
            <a:ext cx="128016" cy="128016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8346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E676"/>
                </a:solidFill>
                <a:latin typeface="Calibri"/>
              </a:rPr>
              <a:t>SIEĆ / PROXY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154680"/>
            <a:ext cx="5303520" cy="685800"/>
          </a:xfrm>
          <a:prstGeom prst="roundRect">
            <a:avLst>
              <a:gd name="adj" fmla="val 5000"/>
            </a:avLst>
          </a:prstGeom>
          <a:solidFill>
            <a:srgbClr val="003322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E676"/>
                </a:solidFill>
                <a:latin typeface="Calibri"/>
              </a:rPr>
              <a:t>🔀  Nginx Reverse Proxy  (port 80)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3154680"/>
            <a:ext cx="5303520" cy="685800"/>
          </a:xfrm>
          <a:prstGeom prst="roundRect">
            <a:avLst>
              <a:gd name="adj" fmla="val 5000"/>
            </a:avLst>
          </a:prstGeom>
          <a:solidFill>
            <a:srgbClr val="332200"/>
          </a:solidFill>
          <a:ln w="1905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BF00"/>
                </a:solidFill>
                <a:latin typeface="Calibri"/>
              </a:rPr>
              <a:t>🌐  ZeroTier VPN  (zdalny dostęp)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60720" y="3474720"/>
            <a:ext cx="640080" cy="36576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72784" y="3429000"/>
            <a:ext cx="128016" cy="128016"/>
          </a:xfrm>
          <a:prstGeom prst="round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090672" y="3840480"/>
            <a:ext cx="36576" cy="393192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044952" y="4215384"/>
            <a:ext cx="128016" cy="128016"/>
          </a:xfrm>
          <a:prstGeom prst="round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34272" y="3840480"/>
            <a:ext cx="36576" cy="393192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988552" y="4215384"/>
            <a:ext cx="128016" cy="128016"/>
          </a:xfrm>
          <a:prstGeom prst="round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206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4545"/>
                </a:solidFill>
                <a:latin typeface="Calibri"/>
              </a:rPr>
              <a:t>BACKEND  (rafserver — Ubuntu 24.04, AMD A6, 8GB RAM)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526280"/>
            <a:ext cx="2194560" cy="822960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FF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4545"/>
                </a:solidFill>
                <a:latin typeface="Calibri"/>
              </a:rPr>
              <a:t>🐍  Flask
+ Gunicorn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0" y="4526280"/>
            <a:ext cx="2194560" cy="822960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BF00"/>
                </a:solidFill>
                <a:latin typeface="Calibri"/>
              </a:rPr>
              <a:t>📊  SQLite
tracker.db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0" y="4526280"/>
            <a:ext cx="2194560" cy="822960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A0B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A0B4C8"/>
                </a:solidFill>
                <a:latin typeface="Calibri"/>
              </a:rPr>
              <a:t>📁  CSV Input
Weekly/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0" y="4526280"/>
            <a:ext cx="2194560" cy="822960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E676"/>
                </a:solidFill>
                <a:latin typeface="Calibri"/>
              </a:rPr>
              <a:t>⚙️  systemd
Services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01200" y="4526280"/>
            <a:ext cx="2194560" cy="822960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E5FF"/>
                </a:solidFill>
                <a:latin typeface="Calibri"/>
              </a:rPr>
              <a:t>📋  Jules
Scripts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0B4C8"/>
                </a:solidFill>
                <a:latin typeface="Calibri"/>
              </a:rPr>
              <a:t>Dane: Defender CSV → /Input/Weekly/  |  API: /api/cves  |  Logi: /var/log/vulnapp/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0" y="62636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00E5FF"/>
                </a:solidFill>
                <a:latin typeface="Calibri"/>
              </a:rPr>
              <a:t>02 / 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1274552" cy="45720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Logika Bota Jules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0B4C8"/>
                </a:solidFill>
                <a:latin typeface="Calibri"/>
              </a:rPr>
              <a:t>Diagram przepływu: od komendy do akcji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BF00"/>
                </a:solidFill>
                <a:latin typeface="Calibri"/>
              </a:rPr>
              <a:t>⚡  LIVE LISTENER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783080"/>
            <a:ext cx="3383280" cy="658368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BF00"/>
                </a:solidFill>
                <a:latin typeface="Calibri"/>
              </a:rPr>
              <a:t>jules-listener.service
(systemd long-poll)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9112" y="2441448"/>
            <a:ext cx="36576" cy="100584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93392" y="2523744"/>
            <a:ext cx="128016" cy="128016"/>
          </a:xfrm>
          <a:prstGeom prst="round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2651760"/>
            <a:ext cx="3383280" cy="658368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BF00"/>
                </a:solidFill>
                <a:latin typeface="Calibri"/>
              </a:rPr>
              <a:t>Wiadomość od
użytkownika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39112" y="3310128"/>
            <a:ext cx="36576" cy="100584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993392" y="3392424"/>
            <a:ext cx="128016" cy="128016"/>
          </a:xfrm>
          <a:prstGeom prst="round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3520440"/>
            <a:ext cx="3383280" cy="658368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BF00"/>
                </a:solidFill>
                <a:latin typeface="Calibri"/>
              </a:rPr>
              <a:t>jules_actions.sh
przetwarza tekst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39112" y="4178808"/>
            <a:ext cx="36576" cy="100584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993392" y="4261104"/>
            <a:ext cx="128016" cy="128016"/>
          </a:xfrm>
          <a:prstGeom prst="round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4389120"/>
            <a:ext cx="3383280" cy="658368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BF00"/>
                </a:solidFill>
                <a:latin typeface="Calibri"/>
              </a:rPr>
              <a:t>Wywołanie
Claude API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39112" y="5047488"/>
            <a:ext cx="36576" cy="100584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993392" y="5129784"/>
            <a:ext cx="128016" cy="128016"/>
          </a:xfrm>
          <a:prstGeom prst="round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5257800"/>
            <a:ext cx="3383280" cy="658368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E676"/>
                </a:solidFill>
                <a:latin typeface="Calibri"/>
              </a:rPr>
              <a:t>Odpowiedź →
Telegram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14173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E5FF"/>
                </a:solidFill>
                <a:latin typeface="Calibri"/>
              </a:rPr>
              <a:t>🔄  PR REVIEW  (cron 5 min)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60520" y="1783080"/>
            <a:ext cx="3383280" cy="658368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E5FF"/>
                </a:solidFill>
                <a:latin typeface="Calibri"/>
              </a:rPr>
              <a:t>jules_review.sh
(cron co 5 min)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33872" y="2441448"/>
            <a:ext cx="36576" cy="10058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788152" y="2523744"/>
            <a:ext cx="128016" cy="128016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160520" y="2651760"/>
            <a:ext cx="3383280" cy="658368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00E5FF"/>
                </a:solidFill>
                <a:latin typeface="Calibri"/>
              </a:rPr>
              <a:t>gh pr list
— pobierz nowe PR-y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33872" y="3310128"/>
            <a:ext cx="36576" cy="10058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788152" y="3392424"/>
            <a:ext cx="128016" cy="128016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160520" y="3520440"/>
            <a:ext cx="3383280" cy="658368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00E5FF"/>
                </a:solidFill>
                <a:latin typeface="Calibri"/>
              </a:rPr>
              <a:t>Claude analizuje
diff kodu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33872" y="4178808"/>
            <a:ext cx="36576" cy="10058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788152" y="4261104"/>
            <a:ext cx="128016" cy="128016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160520" y="4389120"/>
            <a:ext cx="3383280" cy="658368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00E5FF"/>
                </a:solidFill>
                <a:latin typeface="Calibri"/>
              </a:rPr>
              <a:t>gh pr review
— komentarz GitHub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33872" y="5047488"/>
            <a:ext cx="36576" cy="10058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788152" y="5129784"/>
            <a:ext cx="128016" cy="128016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160520" y="5257800"/>
            <a:ext cx="3383280" cy="658368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E676"/>
                </a:solidFill>
                <a:latin typeface="Calibri"/>
              </a:rPr>
              <a:t>Powiadomienie
Telegram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14173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4545"/>
                </a:solidFill>
                <a:latin typeface="Calibri"/>
              </a:rPr>
              <a:t>🔧  GITHUB ACTIONS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55279" y="1783080"/>
            <a:ext cx="3383280" cy="658368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FF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4545"/>
                </a:solidFill>
                <a:latin typeface="Calibri"/>
              </a:rPr>
              <a:t>Komenda /deploy
lub /status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28631" y="2441448"/>
            <a:ext cx="36576" cy="100584"/>
          </a:xfrm>
          <a:prstGeom prst="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582911" y="2523744"/>
            <a:ext cx="128016" cy="128016"/>
          </a:xfrm>
          <a:prstGeom prst="round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955279" y="2651760"/>
            <a:ext cx="3383280" cy="658368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FF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4545"/>
                </a:solidFill>
                <a:latin typeface="Calibri"/>
              </a:rPr>
              <a:t>Parsowanie
komendy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28631" y="3310128"/>
            <a:ext cx="36576" cy="100584"/>
          </a:xfrm>
          <a:prstGeom prst="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582911" y="3392424"/>
            <a:ext cx="128016" cy="128016"/>
          </a:xfrm>
          <a:prstGeom prst="round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955279" y="3520440"/>
            <a:ext cx="3383280" cy="658368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FF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4545"/>
                </a:solidFill>
                <a:latin typeface="Calibri"/>
              </a:rPr>
              <a:t>gh run / gh issue
/ gh pr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28631" y="4178808"/>
            <a:ext cx="36576" cy="100584"/>
          </a:xfrm>
          <a:prstGeom prst="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582911" y="4261104"/>
            <a:ext cx="128016" cy="128016"/>
          </a:xfrm>
          <a:prstGeom prst="round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955279" y="4389120"/>
            <a:ext cx="3383280" cy="658368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FF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4545"/>
                </a:solidFill>
                <a:latin typeface="Calibri"/>
              </a:rPr>
              <a:t>Sukces / Błąd
zapis logu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28631" y="5047488"/>
            <a:ext cx="36576" cy="100584"/>
          </a:xfrm>
          <a:prstGeom prst="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582911" y="5129784"/>
            <a:ext cx="128016" cy="128016"/>
          </a:xfrm>
          <a:prstGeom prst="round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955279" y="5257800"/>
            <a:ext cx="3383280" cy="658368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E676"/>
                </a:solidFill>
                <a:latin typeface="Calibri"/>
              </a:rPr>
              <a:t>Raport
do Telegrama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89920" y="630936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00E5FF"/>
                </a:solidFill>
                <a:latin typeface="Calibri"/>
              </a:rPr>
              <a:t>03 / 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1274552" cy="4572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Mapa Interakcji Użytkownika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0B4C8"/>
                </a:solidFill>
                <a:latin typeface="Calibri"/>
              </a:rPr>
              <a:t>User Journey: od importu CSV do zamknięcia ticketu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401568"/>
            <a:ext cx="11274552" cy="73152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3191256"/>
            <a:ext cx="411480" cy="411480"/>
          </a:xfrm>
          <a:prstGeom prst="ellipse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319125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691640" cy="685800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BF00"/>
                </a:solidFill>
                <a:latin typeface="Calibri"/>
              </a:rPr>
              <a:t>Import
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88920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0B4C8"/>
                </a:solidFill>
                <a:latin typeface="Calibri"/>
              </a:rPr>
              <a:t>Defender
exportuje raport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4732" y="3383280"/>
            <a:ext cx="36576" cy="-100584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39012" y="3264408"/>
            <a:ext cx="128016" cy="128016"/>
          </a:xfrm>
          <a:prstGeom prst="round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24328" y="3191256"/>
            <a:ext cx="411480" cy="4114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24328" y="319125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23160" y="4069080"/>
            <a:ext cx="1691640" cy="685800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E5FF"/>
                </a:solidFill>
                <a:latin typeface="Calibri"/>
              </a:rPr>
              <a:t>Web
Dashboard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4754880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0B4C8"/>
                </a:solidFill>
                <a:latin typeface="Calibri"/>
              </a:rPr>
              <a:t>Przegląd CVE,
filtrowanie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50692" y="3474720"/>
            <a:ext cx="36576" cy="4846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04972" y="3941064"/>
            <a:ext cx="128016" cy="128016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90288" y="3191256"/>
            <a:ext cx="411480" cy="411480"/>
          </a:xfrm>
          <a:prstGeom prst="ellipse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0288" y="319125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2103120"/>
            <a:ext cx="1691640" cy="685800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E676"/>
                </a:solidFill>
                <a:latin typeface="Calibri"/>
              </a:rPr>
              <a:t>Aktualizacja
Statusu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2788920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0B4C8"/>
                </a:solidFill>
                <a:latin typeface="Calibri"/>
              </a:rPr>
              <a:t>action_taken
ticket_number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16652" y="3383280"/>
            <a:ext cx="36576" cy="-100584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170932" y="3264408"/>
            <a:ext cx="128016" cy="128016"/>
          </a:xfrm>
          <a:prstGeom prst="round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56248" y="3191256"/>
            <a:ext cx="411480" cy="4114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319125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4069080"/>
            <a:ext cx="1691640" cy="685800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E5FF"/>
                </a:solidFill>
                <a:latin typeface="Calibri"/>
              </a:rPr>
              <a:t>Mobile
Podgląd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754880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0B4C8"/>
                </a:solidFill>
                <a:latin typeface="Calibri"/>
              </a:rPr>
              <a:t>iOS: /api/cves
przez ZeroTier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82612" y="3474720"/>
            <a:ext cx="36576" cy="4846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136892" y="3941064"/>
            <a:ext cx="128016" cy="128016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22208" y="3191256"/>
            <a:ext cx="411480" cy="411480"/>
          </a:xfrm>
          <a:prstGeom prst="ellipse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22208" y="319125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21040" y="2103120"/>
            <a:ext cx="1691640" cy="685800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BF00"/>
                </a:solidFill>
                <a:latin typeface="Calibri"/>
              </a:rPr>
              <a:t>Bot Jules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2788920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0B4C8"/>
                </a:solidFill>
                <a:latin typeface="Calibri"/>
              </a:rPr>
              <a:t>Telegram: pytania,
PR review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8572" y="3383280"/>
            <a:ext cx="36576" cy="-100584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2852" y="3264408"/>
            <a:ext cx="128016" cy="128016"/>
          </a:xfrm>
          <a:prstGeom prst="round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488168" y="3191256"/>
            <a:ext cx="411480" cy="411480"/>
          </a:xfrm>
          <a:prstGeom prst="ellipse">
            <a:avLst/>
          </a:prstGeom>
          <a:solidFill>
            <a:srgbClr val="A0B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88168" y="319125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287000" y="4069080"/>
            <a:ext cx="1691640" cy="685800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A0B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A0B4C8"/>
                </a:solidFill>
                <a:latin typeface="Calibri"/>
              </a:rPr>
              <a:t>Raport
Zamknięcia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4754880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0B4C8"/>
                </a:solidFill>
                <a:latin typeface="Calibri"/>
              </a:rPr>
              <a:t>Export / statystyki
do zarządu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114532" y="3474720"/>
            <a:ext cx="36576" cy="484632"/>
          </a:xfrm>
          <a:prstGeom prst="rect">
            <a:avLst/>
          </a:prstGeom>
          <a:solidFill>
            <a:srgbClr val="A0B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1068812" y="3941064"/>
            <a:ext cx="128016" cy="128016"/>
          </a:xfrm>
          <a:prstGeom prst="roundRect">
            <a:avLst/>
          </a:prstGeom>
          <a:solidFill>
            <a:srgbClr val="A0B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0749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BF00"/>
                </a:solidFill>
                <a:latin typeface="Calibri"/>
              </a:rPr>
              <a:t>👔 Admin / Security Team ──────────────────────────────────────────────────────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440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E5FF"/>
                </a:solidFill>
                <a:latin typeface="Calibri"/>
              </a:rPr>
              <a:t>💻 Developer / DevOps ──────────────────────────────────────────────────────────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30936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00E5FF"/>
                </a:solidFill>
                <a:latin typeface="Calibri"/>
              </a:rPr>
              <a:t>04 / 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1274552" cy="45720"/>
          </a:xfrm>
          <a:prstGeom prst="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Statystyki i Wydajność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0B4C8"/>
                </a:solidFill>
                <a:latin typeface="Calibri"/>
              </a:rPr>
              <a:t>Dashboard — propozycja metryk operacyjnych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508760"/>
            <a:ext cx="2103120" cy="1280160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6002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E5FF"/>
                </a:solidFill>
                <a:latin typeface="Calibri"/>
              </a:rPr>
              <a:t>247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317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0B4C8"/>
                </a:solidFill>
                <a:latin typeface="Calibri"/>
              </a:rPr>
              <a:t>CVE
Śledzonych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1508760"/>
            <a:ext cx="2103120" cy="1280160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6002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E676"/>
                </a:solidFill>
                <a:latin typeface="Calibri"/>
              </a:rPr>
              <a:t>89%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3317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0B4C8"/>
                </a:solidFill>
                <a:latin typeface="Calibri"/>
              </a:rPr>
              <a:t>Zamkniętych
w terminie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508760"/>
            <a:ext cx="2103120" cy="1280160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16002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BF00"/>
                </a:solidFill>
                <a:latin typeface="Calibri"/>
              </a:rPr>
              <a:t>3.2h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3317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0B4C8"/>
                </a:solidFill>
                <a:latin typeface="Calibri"/>
              </a:rPr>
              <a:t>Avg. czas
reakcji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20" y="1508760"/>
            <a:ext cx="2103120" cy="1280160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FF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16002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4545"/>
                </a:solidFill>
                <a:latin typeface="Calibri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23317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0B4C8"/>
                </a:solidFill>
                <a:latin typeface="Calibri"/>
              </a:rPr>
              <a:t>PR Review
/ tydzień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92640" y="1508760"/>
            <a:ext cx="2103120" cy="1280160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A0B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6002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A0B4C8"/>
                </a:solidFill>
                <a:latin typeface="Calibri"/>
              </a:rPr>
              <a:t>↑5%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23317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0B4C8"/>
                </a:solidFill>
                <a:latin typeface="Calibri"/>
              </a:rPr>
              <a:t>Poprawa
MoM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2971800"/>
            <a:ext cx="5303520" cy="2651760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0632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CVE wg. Severity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726180"/>
            <a:ext cx="822960" cy="1165860"/>
          </a:xfrm>
          <a:prstGeom prst="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98348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0B4C8"/>
                </a:solidFill>
                <a:latin typeface="Calibri"/>
              </a:rPr>
              <a:t>Critical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45186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4545"/>
                </a:solidFill>
                <a:latin typeface="Calibri"/>
              </a:rPr>
              <a:t>85%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74520" y="4069080"/>
            <a:ext cx="822960" cy="822960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83080" y="498348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0B4C8"/>
                </a:solidFill>
                <a:latin typeface="Calibri"/>
              </a:rPr>
              <a:t>High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74520" y="379476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F00"/>
                </a:solidFill>
                <a:latin typeface="Calibri"/>
              </a:rPr>
              <a:t>60%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63240" y="4343400"/>
            <a:ext cx="822960" cy="54864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71800" y="498348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0B4C8"/>
                </a:solidFill>
                <a:latin typeface="Calibri"/>
              </a:rPr>
              <a:t>Medium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63240" y="406908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E5FF"/>
                </a:solidFill>
                <a:latin typeface="Calibri"/>
              </a:rPr>
              <a:t>40%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51960" y="4617720"/>
            <a:ext cx="822960" cy="27432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60520" y="498348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0B4C8"/>
                </a:solidFill>
                <a:latin typeface="Calibri"/>
              </a:rPr>
              <a:t>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60" y="43434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E676"/>
                </a:solidFill>
                <a:latin typeface="Calibri"/>
              </a:rPr>
              <a:t>20%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0" y="2971800"/>
            <a:ext cx="5760720" cy="2651760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30632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676"/>
                </a:solidFill>
                <a:latin typeface="Calibri"/>
              </a:rPr>
              <a:t>Status Ticketów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80" y="3520440"/>
            <a:ext cx="2551176" cy="347472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80" y="35204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✅  Zamknięte  62%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80" y="4114800"/>
            <a:ext cx="987552" cy="34747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26480" y="41148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🔄  W trakcie  24%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709160"/>
            <a:ext cx="411480" cy="347472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26480" y="47091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⚠️  Zaległe  10%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26480" y="5303520"/>
            <a:ext cx="164592" cy="347472"/>
          </a:xfrm>
          <a:prstGeom prst="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26480" y="53035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🔴  Krytyczne   4%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65760" y="5715000"/>
            <a:ext cx="11338560" cy="457200"/>
          </a:xfrm>
          <a:prstGeom prst="roundRect">
            <a:avLst>
              <a:gd name="adj" fmla="val 5000"/>
            </a:avLst>
          </a:prstGeom>
          <a:solidFill>
            <a:srgbClr val="112D4A"/>
          </a:solidFill>
          <a:ln w="1905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BF00"/>
                </a:solidFill>
                <a:latin typeface="Calibri"/>
              </a:rPr>
              <a:t>🤖  Jules:  47 komend/tydzień  |  12 PR review  |  ∅ 8s latency  |  uptime 99.8%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29107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0B4C8"/>
                </a:solidFill>
                <a:latin typeface="Calibri"/>
              </a:rPr>
              <a:t>* Dane poglądowe — docelowo integracja z logami systemd i GitHub API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89920" y="629107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00E5FF"/>
                </a:solidFill>
                <a:latin typeface="Calibri"/>
              </a:rPr>
              <a:t>05 / 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